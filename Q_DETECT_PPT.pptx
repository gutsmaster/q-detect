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8"/>
  </p:normalViewPr>
  <p:slideViewPr>
    <p:cSldViewPr snapToGrid="0" snapToObjects="1">
      <p:cViewPr>
        <p:scale>
          <a:sx n="81" d="100"/>
          <a:sy n="81" d="100"/>
        </p:scale>
        <p:origin x="1776" y="1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76245"/>
            <a:ext cx="59245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SIH16141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Quantum Inspired Cyber Threat Detection for Digital Signature Security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and Security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ID-R16-202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Qubit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Qurious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Mentor : Dr. PAWAN SINGH MEHRA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E1627B-6371-568C-5A08-7321CA64C6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7"/>
          <a:stretch/>
        </p:blipFill>
        <p:spPr bwMode="auto">
          <a:xfrm>
            <a:off x="9426555" y="51568"/>
            <a:ext cx="2709611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2282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Qubit </a:t>
            </a:r>
            <a:r>
              <a:rPr lang="en-US" dirty="0" err="1"/>
              <a:t>Qurious</a:t>
            </a:r>
            <a:endParaRPr lang="en-IN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78CB025-A913-2BCA-F556-C5862C705836}"/>
              </a:ext>
            </a:extLst>
          </p:cNvPr>
          <p:cNvSpPr txBox="1"/>
          <p:nvPr/>
        </p:nvSpPr>
        <p:spPr>
          <a:xfrm>
            <a:off x="1752598" y="107273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Q-METER</a:t>
            </a:r>
            <a:endParaRPr lang="en-US" sz="34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9730E40-1C24-6B1F-95BC-C9691B165D06}"/>
              </a:ext>
            </a:extLst>
          </p:cNvPr>
          <p:cNvSpPr txBox="1"/>
          <p:nvPr/>
        </p:nvSpPr>
        <p:spPr>
          <a:xfrm>
            <a:off x="1752598" y="6178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Certifiable Trust for Quantum-</a:t>
            </a:r>
            <a:r>
              <a:rPr lang="en-US" sz="1500" b="1" i="1" dirty="0" err="1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Seured</a:t>
            </a:r>
            <a:r>
              <a:rPr lang="en-US" sz="1500" b="1" i="1" dirty="0">
                <a:solidFill>
                  <a:srgbClr val="1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Signatures</a:t>
            </a:r>
            <a:endParaRPr lang="en-US" sz="15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85A09190-36AC-0094-E804-D91A4310DE51}"/>
              </a:ext>
            </a:extLst>
          </p:cNvPr>
          <p:cNvSpPr txBox="1"/>
          <p:nvPr/>
        </p:nvSpPr>
        <p:spPr>
          <a:xfrm>
            <a:off x="731520" y="1234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Q-METER is a full simulation of a teleportation-based Quantum Digital Signature system, wrapped in a live security-health monitor. It doesn't just say whether a signature is valid — it tells you whether the quantum link is still trustworthy enough to sign the next one.</a:t>
            </a:r>
            <a:endParaRPr lang="en-US" sz="150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EAD3666C-CE66-5EC4-6C70-6BA03240A1A8}"/>
              </a:ext>
            </a:extLst>
          </p:cNvPr>
          <p:cNvSpPr/>
          <p:nvPr/>
        </p:nvSpPr>
        <p:spPr>
          <a:xfrm>
            <a:off x="731520" y="251460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ADBD8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457E272-A734-C3D4-B8B1-A1198BF9631A}"/>
              </a:ext>
            </a:extLst>
          </p:cNvPr>
          <p:cNvSpPr/>
          <p:nvPr/>
        </p:nvSpPr>
        <p:spPr>
          <a:xfrm>
            <a:off x="2057400" y="2834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294F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CAE10C-96F5-C611-0573-8616A20C032F}"/>
              </a:ext>
            </a:extLst>
          </p:cNvPr>
          <p:cNvSpPr txBox="1"/>
          <p:nvPr/>
        </p:nvSpPr>
        <p:spPr>
          <a:xfrm>
            <a:off x="205740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12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8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4651A65-B87E-5F78-228D-C9D3B88F27F7}"/>
              </a:ext>
            </a:extLst>
          </p:cNvPr>
          <p:cNvSpPr txBox="1"/>
          <p:nvPr/>
        </p:nvSpPr>
        <p:spPr>
          <a:xfrm>
            <a:off x="91440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Provable Security</a:t>
            </a:r>
            <a:endParaRPr lang="en-US" sz="17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D342A52-63F2-A1AE-954E-400DF72E72A3}"/>
              </a:ext>
            </a:extLst>
          </p:cNvPr>
          <p:cNvSpPr txBox="1"/>
          <p:nvPr/>
        </p:nvSpPr>
        <p:spPr>
          <a:xfrm>
            <a:off x="1005840" y="42062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Six-state quantum key encoding with dual accept/verify thresholds, built on a peer-reviewed 2021 protocol (Weng et al.)</a:t>
            </a:r>
            <a:endParaRPr lang="en-US" sz="12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13ADB5B-2F46-5841-B7F6-3C6B80639681}"/>
              </a:ext>
            </a:extLst>
          </p:cNvPr>
          <p:cNvSpPr/>
          <p:nvPr/>
        </p:nvSpPr>
        <p:spPr>
          <a:xfrm>
            <a:off x="4434840" y="251460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D5F5E3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5293A86-6546-3F85-CF43-14691128ECDD}"/>
              </a:ext>
            </a:extLst>
          </p:cNvPr>
          <p:cNvSpPr/>
          <p:nvPr/>
        </p:nvSpPr>
        <p:spPr>
          <a:xfrm>
            <a:off x="5760720" y="2834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294F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19D8840-CE53-5004-21B5-DD478DC33AD6}"/>
              </a:ext>
            </a:extLst>
          </p:cNvPr>
          <p:cNvSpPr txBox="1"/>
          <p:nvPr/>
        </p:nvSpPr>
        <p:spPr>
          <a:xfrm>
            <a:off x="576072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12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8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7EBCDE1-6E43-83E3-0D52-AEDEE4BE4248}"/>
              </a:ext>
            </a:extLst>
          </p:cNvPr>
          <p:cNvSpPr txBox="1"/>
          <p:nvPr/>
        </p:nvSpPr>
        <p:spPr>
          <a:xfrm>
            <a:off x="46177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Threat Detection</a:t>
            </a:r>
            <a:endParaRPr lang="en-US" sz="17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BCFF78A-A19F-A9AC-A7F2-2B400584FA9D}"/>
              </a:ext>
            </a:extLst>
          </p:cNvPr>
          <p:cNvSpPr txBox="1"/>
          <p:nvPr/>
        </p:nvSpPr>
        <p:spPr>
          <a:xfrm>
            <a:off x="4709160" y="42062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forgery, impersonation, replay and channel manipulation — including attacks a plain error-rate check misses entirely</a:t>
            </a:r>
            <a:endParaRPr lang="en-US" sz="125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57D0136-3AC6-4EEB-9EC2-B6D2E20622C5}"/>
              </a:ext>
            </a:extLst>
          </p:cNvPr>
          <p:cNvSpPr/>
          <p:nvPr/>
        </p:nvSpPr>
        <p:spPr>
          <a:xfrm>
            <a:off x="8138160" y="251460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CF3CF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6BFF475-96BA-0FA7-15A5-DE72EC67F053}"/>
              </a:ext>
            </a:extLst>
          </p:cNvPr>
          <p:cNvSpPr/>
          <p:nvPr/>
        </p:nvSpPr>
        <p:spPr>
          <a:xfrm>
            <a:off x="9464040" y="2834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294F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1720942-38DB-504C-3829-08014AD0D730}"/>
              </a:ext>
            </a:extLst>
          </p:cNvPr>
          <p:cNvSpPr txBox="1"/>
          <p:nvPr/>
        </p:nvSpPr>
        <p:spPr>
          <a:xfrm>
            <a:off x="946404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12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8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BE8318D-3F5E-B72D-5B1F-CCBB58268BF4}"/>
              </a:ext>
            </a:extLst>
          </p:cNvPr>
          <p:cNvSpPr txBox="1"/>
          <p:nvPr/>
        </p:nvSpPr>
        <p:spPr>
          <a:xfrm>
            <a:off x="832104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Capacity Meter</a:t>
            </a:r>
            <a:endParaRPr lang="en-US" sz="17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0355A51B-C0D9-D7A3-2AED-6357A09A9864}"/>
              </a:ext>
            </a:extLst>
          </p:cNvPr>
          <p:cNvSpPr txBox="1"/>
          <p:nvPr/>
        </p:nvSpPr>
        <p:spPr>
          <a:xfrm>
            <a:off x="8412480" y="42062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much one-time quantum key material is left, and how many signatures remain safe to issue</a:t>
            </a:r>
            <a:endParaRPr lang="en-US" sz="1250" dirty="0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A1BAB36A-CE71-A2E7-7A3B-E13161CC2E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7"/>
          <a:stretch/>
        </p:blipFill>
        <p:spPr bwMode="auto">
          <a:xfrm>
            <a:off x="9464040" y="-83661"/>
            <a:ext cx="2709611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5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Qubit</a:t>
            </a:r>
          </a:p>
          <a:p>
            <a:pPr algn="ctr"/>
            <a:r>
              <a:rPr lang="en-US" dirty="0" err="1"/>
              <a:t>Qurious</a:t>
            </a:r>
            <a:endParaRPr lang="en-US" dirty="0"/>
          </a:p>
          <a:p>
            <a:pPr algn="ctr"/>
            <a:endParaRPr lang="en-IN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8458796-6D0F-6DA1-0A5B-FE3B513F29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7"/>
          <a:stretch/>
        </p:blipFill>
        <p:spPr bwMode="auto">
          <a:xfrm>
            <a:off x="9440621" y="-42587"/>
            <a:ext cx="2709611" cy="139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3541D0-CD8B-5C94-E195-64409DDA8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89" y="1354413"/>
            <a:ext cx="7480300" cy="4541562"/>
          </a:xfrm>
          <a:prstGeom prst="rect">
            <a:avLst/>
          </a:prstGeom>
        </p:spPr>
      </p:pic>
      <p:pic>
        <p:nvPicPr>
          <p:cNvPr id="3078" name="Picture 6" descr="The Python Logo | Python Software Foundation">
            <a:extLst>
              <a:ext uri="{FF2B5EF4-FFF2-40B4-BE49-F238E27FC236}">
                <a16:creationId xmlns:a16="http://schemas.microsoft.com/office/drawing/2014/main" id="{2088E3C5-C6DD-EC5D-96F3-B5385AB27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492" y="2201073"/>
            <a:ext cx="448641" cy="54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065D660A-338A-B4EC-CDE7-D76351655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667" y="2108461"/>
            <a:ext cx="1223805" cy="55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SciPy">
            <a:extLst>
              <a:ext uri="{FF2B5EF4-FFF2-40B4-BE49-F238E27FC236}">
                <a16:creationId xmlns:a16="http://schemas.microsoft.com/office/drawing/2014/main" id="{EE01E334-D6B5-84C7-AE88-32A455C3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388" y="2744779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Flask Logo Icon SVG Vector &amp; PNG Free Download | UXWing">
            <a:extLst>
              <a:ext uri="{FF2B5EF4-FFF2-40B4-BE49-F238E27FC236}">
                <a16:creationId xmlns:a16="http://schemas.microsoft.com/office/drawing/2014/main" id="{826E3BBC-D998-3892-F39E-C2B7B0666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619" y="7082572"/>
            <a:ext cx="235994" cy="23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pandas - Python Data Analysis Library">
            <a:extLst>
              <a:ext uri="{FF2B5EF4-FFF2-40B4-BE49-F238E27FC236}">
                <a16:creationId xmlns:a16="http://schemas.microsoft.com/office/drawing/2014/main" id="{2AF369EA-E1BC-7271-969D-122A09877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492" y="4830141"/>
            <a:ext cx="880561" cy="62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166689AE-AD8B-F5BD-0CCF-42E52F361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071" y="4725383"/>
            <a:ext cx="850624" cy="85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Qiskit Logo Vector Download | Logowik">
            <a:extLst>
              <a:ext uri="{FF2B5EF4-FFF2-40B4-BE49-F238E27FC236}">
                <a16:creationId xmlns:a16="http://schemas.microsoft.com/office/drawing/2014/main" id="{E8BA116C-C69F-AB07-5B31-6FDDF22F0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670" y="3532754"/>
            <a:ext cx="1642802" cy="123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76D30F-8F57-96EE-7CCD-5FDDCF94507B}"/>
              </a:ext>
            </a:extLst>
          </p:cNvPr>
          <p:cNvSpPr txBox="1"/>
          <p:nvPr/>
        </p:nvSpPr>
        <p:spPr>
          <a:xfrm>
            <a:off x="9604615" y="1526376"/>
            <a:ext cx="1857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866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Qubit</a:t>
            </a:r>
          </a:p>
          <a:p>
            <a:pPr algn="ctr"/>
            <a:r>
              <a:rPr lang="en-US" dirty="0" err="1"/>
              <a:t>Qurious</a:t>
            </a:r>
            <a:endParaRPr lang="en-US" dirty="0"/>
          </a:p>
          <a:p>
            <a:pPr algn="ctr"/>
            <a:endParaRPr lang="en-IN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34EC209-050A-EE8D-4270-B2CF82BFB7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7"/>
          <a:stretch/>
        </p:blipFill>
        <p:spPr bwMode="auto">
          <a:xfrm>
            <a:off x="9678256" y="0"/>
            <a:ext cx="2515359" cy="129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725BA4-6C94-66EB-91FC-E79F54A45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1284289"/>
            <a:ext cx="8379460" cy="43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57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Qubit</a:t>
            </a:r>
          </a:p>
          <a:p>
            <a:pPr algn="ctr"/>
            <a:r>
              <a:rPr lang="en-US" dirty="0" err="1"/>
              <a:t>Qurious</a:t>
            </a:r>
            <a:endParaRPr lang="en-US" dirty="0"/>
          </a:p>
          <a:p>
            <a:pPr algn="ctr"/>
            <a:endParaRPr lang="en-IN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4AC38FC-BEA1-7DA7-4837-E9A49AE289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7"/>
          <a:stretch/>
        </p:blipFill>
        <p:spPr bwMode="auto">
          <a:xfrm>
            <a:off x="9815226" y="-47625"/>
            <a:ext cx="2376773" cy="122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772B5A-A6B3-E6E0-D863-8B81A1761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275" y="1287664"/>
            <a:ext cx="4389047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17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Qubit</a:t>
            </a:r>
          </a:p>
          <a:p>
            <a:pPr algn="ctr"/>
            <a:r>
              <a:rPr lang="en-US" dirty="0" err="1"/>
              <a:t>Qurious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ACEFB-747C-28D3-04AB-12CD285ADF74}"/>
              </a:ext>
            </a:extLst>
          </p:cNvPr>
          <p:cNvSpPr txBox="1"/>
          <p:nvPr/>
        </p:nvSpPr>
        <p:spPr>
          <a:xfrm>
            <a:off x="1262008" y="1787703"/>
            <a:ext cx="96679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[1] S. Abruzzo, M. Mertz, H. </a:t>
            </a:r>
            <a:r>
              <a:rPr lang="en-GB" dirty="0" err="1"/>
              <a:t>Kampermann</a:t>
            </a:r>
            <a:r>
              <a:rPr lang="en-GB" dirty="0"/>
              <a:t>, and D. </a:t>
            </a:r>
            <a:r>
              <a:rPr lang="en-GB" dirty="0" err="1"/>
              <a:t>Bruß</a:t>
            </a:r>
            <a:r>
              <a:rPr lang="en-GB" dirty="0"/>
              <a:t>, “Finite-key analysis of the six-state protocol with photon-number-resolution detectors,” arXiv:1111.2798 (2011).</a:t>
            </a:r>
          </a:p>
          <a:p>
            <a:endParaRPr lang="en-GB" dirty="0"/>
          </a:p>
          <a:p>
            <a:r>
              <a:rPr lang="en-GB" dirty="0"/>
              <a:t>[2] Y.-S. Lu, X.-Y. Cao, C.-X. Weng, J. Gu, Y.-M. Xie, M.-G. Zhou, H.-L. Yin, and Z.-B. Chen, “Efficient Quantum Digital Signatures without </a:t>
            </a:r>
            <a:r>
              <a:rPr lang="en-GB" dirty="0" err="1"/>
              <a:t>Symmetrization</a:t>
            </a:r>
            <a:r>
              <a:rPr lang="en-GB" dirty="0"/>
              <a:t> Step,” arXiv:2104.03470 (2021).</a:t>
            </a:r>
          </a:p>
          <a:p>
            <a:endParaRPr lang="en-GB" dirty="0"/>
          </a:p>
          <a:p>
            <a:r>
              <a:rPr lang="en-GB" dirty="0"/>
              <a:t>[3] C.-X. Weng, Y.-S. Lu, R.-Q. Gao, Y.-M. Xie, J. Gu, C.-L. Li, B.-H. Li, H.-L. Yin, and Z.-B. Chen, “Secure and practical multiparty quantum digital signatures,” arXiv:2104.12059 (2021).</a:t>
            </a:r>
          </a:p>
          <a:p>
            <a:endParaRPr lang="en-GB" dirty="0"/>
          </a:p>
          <a:p>
            <a:r>
              <a:rPr lang="en-GB" dirty="0"/>
              <a:t>[4] H.-L. Yin, Y. Fu, and Z.-B. Chen, “Practical Quantum Digital Signature,” arXiv:1507.03333 (2016).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B8F275E-AA38-A9D3-C3AE-00225B5ED9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7"/>
          <a:stretch/>
        </p:blipFill>
        <p:spPr bwMode="auto">
          <a:xfrm>
            <a:off x="9975045" y="0"/>
            <a:ext cx="2216954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7774</TotalTime>
  <Words>429</Words>
  <Application>Microsoft Macintosh PowerPoint</Application>
  <PresentationFormat>Widescreen</PresentationFormat>
  <Paragraphs>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Ansh Goel</cp:lastModifiedBy>
  <cp:revision>151</cp:revision>
  <dcterms:created xsi:type="dcterms:W3CDTF">2013-12-12T18:46:50Z</dcterms:created>
  <dcterms:modified xsi:type="dcterms:W3CDTF">2026-09-15T15:43:02Z</dcterms:modified>
  <cp:category/>
</cp:coreProperties>
</file>